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 snapToObjects="1">
      <p:cViewPr varScale="1">
        <p:scale>
          <a:sx n="115" d="100"/>
          <a:sy n="115" d="100"/>
        </p:scale>
        <p:origin x="4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956048" y="685800"/>
            <a:ext cx="2286000" cy="384048"/>
          </a:xfrm>
          <a:prstGeom prst="rect">
            <a:avLst/>
          </a:prstGeom>
          <a:solidFill>
            <a:srgbClr val="0D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56048" y="6858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Calibri"/>
              </a:rPr>
              <a:t>🌿  NusantaraExport.AI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Ekspor Lebih Mudah,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4ADE80"/>
                </a:solidFill>
                <a:latin typeface="Calibri"/>
              </a:rPr>
              <a:t>Peluang Lebih Luas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CC"/>
                </a:solidFill>
                <a:latin typeface="Calibri"/>
              </a:rPr>
              <a:t>Platform AI pertama di Indonesia yang membantu UMKM menemukan celah pasar ekspor,
menyiapkan dokumen, dan bernegosiasi dengan buyer luar negeri — cukup dengan teks atau suara.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2286000" cy="420624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  <a:latin typeface="Calibri"/>
              </a:rPr>
              <a:t>🤖  Google Gemini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4206240"/>
            <a:ext cx="2286000" cy="420624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420624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  <a:latin typeface="Calibri"/>
              </a:rPr>
              <a:t>🌍  50+ Negara Tujuan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4206240"/>
            <a:ext cx="2286000" cy="420624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94960" y="420624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  <a:latin typeface="Calibri"/>
              </a:rPr>
              <a:t>🗣️  Voice-First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4206240"/>
            <a:ext cx="2286000" cy="420624"/>
          </a:xfrm>
          <a:prstGeom prst="rect">
            <a:avLst/>
          </a:prstGeom>
          <a:solidFill>
            <a:srgbClr val="1A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420624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  <a:latin typeface="Calibri"/>
              </a:rPr>
              <a:t>📋  Cek Dokumen Otomatis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184648" y="164592"/>
            <a:ext cx="1828800" cy="32004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84648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CD34D"/>
                </a:solidFill>
                <a:latin typeface="Calibri"/>
              </a:rPr>
              <a:t>📊  KONTEKS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UMKM Indonesia: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ADE80"/>
                </a:solidFill>
                <a:latin typeface="Calibri"/>
              </a:rPr>
              <a:t>Raksasa yang Tertidur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  <a:latin typeface="Calibri"/>
              </a:rPr>
              <a:t>UMKM menyumbang 61% PDB dan 97% tenaga kerja — namun hanya segelintir yang menembus pasar global.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651760"/>
            <a:ext cx="2651760" cy="1737360"/>
          </a:xfrm>
          <a:prstGeom prst="roundRect">
            <a:avLst>
              <a:gd name="adj" fmla="val 4000"/>
            </a:avLst>
          </a:prstGeom>
          <a:solidFill>
            <a:srgbClr val="151010"/>
          </a:solidFill>
          <a:ln w="9525">
            <a:solidFill>
              <a:srgbClr val="3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90779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DE80"/>
                </a:solidFill>
                <a:latin typeface="Calibri"/>
              </a:rPr>
              <a:t>64,2 Juta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747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Calibri"/>
              </a:rPr>
              <a:t>Unit UMKM aktif
di Indonesia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4408" y="2651760"/>
            <a:ext cx="2651760" cy="1737360"/>
          </a:xfrm>
          <a:prstGeom prst="roundRect">
            <a:avLst>
              <a:gd name="adj" fmla="val 4000"/>
            </a:avLst>
          </a:prstGeom>
          <a:solidFill>
            <a:srgbClr val="151010"/>
          </a:solidFill>
          <a:ln w="9525">
            <a:solidFill>
              <a:srgbClr val="3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64408" y="290779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CD34D"/>
                </a:solidFill>
                <a:latin typeface="Calibri"/>
              </a:rPr>
              <a:t>61%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34747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Calibri"/>
              </a:rPr>
              <a:t>Kontribusi terhadap
PDB nasional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2651760"/>
            <a:ext cx="2651760" cy="1737360"/>
          </a:xfrm>
          <a:prstGeom prst="roundRect">
            <a:avLst>
              <a:gd name="adj" fmla="val 4000"/>
            </a:avLst>
          </a:prstGeom>
          <a:solidFill>
            <a:srgbClr val="151010"/>
          </a:solidFill>
          <a:ln w="9525">
            <a:solidFill>
              <a:srgbClr val="3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17336" y="290779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7171"/>
                </a:solidFill>
                <a:latin typeface="Calibri"/>
              </a:rPr>
              <a:t>&lt;5%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34747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Calibri"/>
              </a:rPr>
              <a:t>UMKM yang berhasil
ekspor mandiri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4" y="2651760"/>
            <a:ext cx="2651760" cy="1737360"/>
          </a:xfrm>
          <a:prstGeom prst="roundRect">
            <a:avLst>
              <a:gd name="adj" fmla="val 4000"/>
            </a:avLst>
          </a:prstGeom>
          <a:solidFill>
            <a:srgbClr val="151010"/>
          </a:solidFill>
          <a:ln w="9525">
            <a:solidFill>
              <a:srgbClr val="3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70264" y="290779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5B4FC"/>
                </a:solidFill>
                <a:latin typeface="Calibri"/>
              </a:rPr>
              <a:t>Rp293 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34747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Calibri"/>
              </a:rPr>
              <a:t>Potensi devisa
yang belum tergarap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177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Sumber: Kemenkop UKM 2024 · BPS 2024 · Kemendag 2023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184648" y="164592"/>
            <a:ext cx="1828800" cy="320040"/>
          </a:xfrm>
          <a:prstGeom prst="rect">
            <a:avLst/>
          </a:prstGeom>
          <a:solidFill>
            <a:srgbClr val="2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84648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87171"/>
                </a:solidFill>
                <a:latin typeface="Calibri"/>
              </a:rPr>
              <a:t>😤  MASALAH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Kenapa UMKM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87171"/>
                </a:solidFill>
                <a:latin typeface="Calibri"/>
              </a:rPr>
              <a:t>Gagal Ekspor?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38528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  <a:latin typeface="Calibri"/>
              </a:rPr>
              <a:t>Tiga tembok besar yang selalu menghalangi pelaku UMKM menembus pasar internasional.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5146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200C0C"/>
          </a:solidFill>
          <a:ln w="9525">
            <a:solidFill>
              <a:srgbClr val="5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🗺️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729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Buta Pasar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93592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BCC"/>
                </a:solidFill>
                <a:latin typeface="Calibri"/>
              </a:rPr>
              <a:t>Tidak tahu produk mana yang laku di negara mana. Riset pasar mahal, memerlukan konsultan jutaan rupiah, dan hasilnya sering sudah kadaluarsa.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Calibri"/>
              </a:rPr>
              <a:t>📊 78% UMKM tidak punya akses data pasar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5146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200C0C"/>
          </a:solidFill>
          <a:ln w="9525">
            <a:solidFill>
              <a:srgbClr val="5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2697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1729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Labirin Regulasi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93592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BCC"/>
                </a:solidFill>
                <a:latin typeface="Calibri"/>
              </a:rPr>
              <a:t>Dokumen ekspor (HS Code, SKA/COO, PEB, Phytosanitary) membingungkan dan berbeda tiap negara tujuan — satu salah, barang ditahan.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Calibri"/>
              </a:rPr>
              <a:t>📊 83% UMKM kesulitan menyiapkan dokumen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5146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200C0C"/>
          </a:solidFill>
          <a:ln w="9525">
            <a:solidFill>
              <a:srgbClr val="5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01000" y="2697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1729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Tidak Bisa Negosiasi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593592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BCC"/>
                </a:solidFill>
                <a:latin typeface="Calibri"/>
              </a:rPr>
              <a:t>Buyer asing menawar harga jauh di bawah pasar. UMKM tidak tahu harga benchmark internasional dan tidak bisa membalas email Bahasa Inggris profesional.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Calibri"/>
              </a:rPr>
              <a:t>📊 71% UMKM menjual di bawah harga pasar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164592"/>
            <a:ext cx="2130552" cy="320040"/>
          </a:xfrm>
          <a:prstGeom prst="rect">
            <a:avLst/>
          </a:prstGeom>
          <a:solidFill>
            <a:srgbClr val="2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0" y="164592"/>
            <a:ext cx="2130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87171"/>
                </a:solidFill>
                <a:latin typeface="Calibri"/>
              </a:rPr>
              <a:t>💬  SUARA UMKM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Mereka Sudah Mencoba, Tapi Selalu Mentok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64008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1208" y="1572768"/>
            <a:ext cx="5422392" cy="1463040"/>
          </a:xfrm>
          <a:prstGeom prst="rect">
            <a:avLst/>
          </a:prstGeom>
          <a:solidFill>
            <a:srgbClr val="2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171907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  <a:latin typeface="Calibri"/>
              </a:rPr>
              <a:t>"Saya mau ekspor kopi Aceh ke Jerman, tapi tidak tahu harus urus apa dulu. Konsultan minta Rp 15 juta hanya untuk konsultasi awal."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700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— Pelaku UMKM Kopi, Aceh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64008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1208" y="3246120"/>
            <a:ext cx="5422392" cy="1463040"/>
          </a:xfrm>
          <a:prstGeom prst="rect">
            <a:avLst/>
          </a:prstGeom>
          <a:solidFill>
            <a:srgbClr val="2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3392424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  <a:latin typeface="Calibri"/>
              </a:rPr>
              <a:t>"HS Code produk saya ada puluhan pilihan, saya asal pilih lalu kena denda bea cukai Rp 8 juta. Baru tahu salah setelah barang ditahan."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43434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— Eksportir Batik, Yogyakarta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572768"/>
            <a:ext cx="64008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73368" y="1572768"/>
            <a:ext cx="5422392" cy="1463040"/>
          </a:xfrm>
          <a:prstGeom prst="rect">
            <a:avLst/>
          </a:prstGeom>
          <a:solidFill>
            <a:srgbClr val="2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28816" y="171907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  <a:latin typeface="Calibri"/>
              </a:rPr>
              <a:t>"Buyer dari Dubai minta diskon 40%, saya tidak tahu apakah harga saya sudah pas. Akhirnya saya turunkan dan merugi."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6700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— Produsen Minyak Atsiri, Jawa Tengah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246120"/>
            <a:ext cx="64008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73368" y="3246120"/>
            <a:ext cx="5422392" cy="1463040"/>
          </a:xfrm>
          <a:prstGeom prst="rect">
            <a:avLst/>
          </a:prstGeom>
          <a:solidFill>
            <a:srgbClr val="2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28816" y="3392424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  <a:latin typeface="Calibri"/>
              </a:rPr>
              <a:t>"Kemasan produk saya ditolak masuk Eropa karena tidak ada label allergen. Informasi ini tidak saya temukan di mana pun secara gratis."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43434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— Pelaku UMKM Makanan, Sumatera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184648" y="164592"/>
            <a:ext cx="1828800" cy="320040"/>
          </a:xfrm>
          <a:prstGeom prst="rect">
            <a:avLst/>
          </a:prstGeom>
          <a:solidFill>
            <a:srgbClr val="0A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84648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✨  SOLUSI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Perkenalkan: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ADE80"/>
                </a:solidFill>
                <a:latin typeface="Calibri"/>
              </a:rPr>
              <a:t>NusantaraExport.AI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38528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  <a:latin typeface="Calibri"/>
              </a:rPr>
              <a:t>Satu platform, semua yang dibutuhkan UMKM untuk ekspor — dari riset pasar hingga penyelesaian
masalah pengiriman, didukung AI canggih yang bisa bicara Bahasa Indonesia.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74320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082010"/>
          </a:solidFill>
          <a:ln w="9525">
            <a:solidFill>
              <a:srgbClr val="145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29443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3866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Deteksi Celah Pasar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816396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AABBCC"/>
                </a:solidFill>
                <a:latin typeface="Calibri"/>
              </a:rPr>
              <a:t>AI </a:t>
            </a:r>
            <a:r>
              <a:rPr sz="1150" b="0" i="0" dirty="0" err="1">
                <a:solidFill>
                  <a:srgbClr val="AABBCC"/>
                </a:solidFill>
                <a:latin typeface="Calibri"/>
              </a:rPr>
              <a:t>menganalisis</a:t>
            </a:r>
            <a:r>
              <a:rPr sz="1150" b="0" i="0" dirty="0">
                <a:solidFill>
                  <a:srgbClr val="AABBCC"/>
                </a:solidFill>
                <a:latin typeface="Calibri"/>
              </a:rPr>
              <a:t> data </a:t>
            </a:r>
            <a:r>
              <a:rPr sz="1150" b="0" i="0" dirty="0" err="1">
                <a:solidFill>
                  <a:srgbClr val="AABBCC"/>
                </a:solidFill>
                <a:latin typeface="Calibri"/>
              </a:rPr>
              <a:t>perdagangan</a:t>
            </a:r>
            <a:r>
              <a:rPr sz="1150" b="0" i="0" dirty="0">
                <a:solidFill>
                  <a:srgbClr val="AABBCC"/>
                </a:solidFill>
                <a:latin typeface="Calibri"/>
              </a:rPr>
              <a:t> global (UN Comtrade) </a:t>
            </a:r>
            <a:r>
              <a:rPr sz="1150" b="0" i="0" dirty="0" err="1">
                <a:solidFill>
                  <a:srgbClr val="AABBCC"/>
                </a:solidFill>
                <a:latin typeface="Calibri"/>
              </a:rPr>
              <a:t>untuk</a:t>
            </a:r>
            <a:r>
              <a:rPr sz="1150" b="0" i="0" dirty="0">
                <a:solidFill>
                  <a:srgbClr val="AABBCC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AABBCC"/>
                </a:solidFill>
                <a:latin typeface="Calibri"/>
              </a:rPr>
              <a:t>menemukan</a:t>
            </a:r>
            <a:r>
              <a:rPr sz="1150" b="0" i="0" dirty="0">
                <a:solidFill>
                  <a:srgbClr val="AABBCC"/>
                </a:solidFill>
                <a:latin typeface="Calibri"/>
              </a:rPr>
              <a:t> negara dan </a:t>
            </a:r>
            <a:r>
              <a:rPr sz="1150" b="0" i="0" dirty="0" err="1">
                <a:solidFill>
                  <a:srgbClr val="AABBCC"/>
                </a:solidFill>
                <a:latin typeface="Calibri"/>
              </a:rPr>
              <a:t>produk</a:t>
            </a:r>
            <a:r>
              <a:rPr sz="1150" b="0" i="0" dirty="0">
                <a:solidFill>
                  <a:srgbClr val="AABBCC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AABBCC"/>
                </a:solidFill>
                <a:latin typeface="Calibri"/>
              </a:rPr>
              <a:t>dengan</a:t>
            </a:r>
            <a:r>
              <a:rPr sz="1150" b="0" i="0" dirty="0">
                <a:solidFill>
                  <a:srgbClr val="AABBCC"/>
                </a:solidFill>
                <a:latin typeface="Calibri"/>
              </a:rPr>
              <a:t> demand </a:t>
            </a:r>
            <a:r>
              <a:rPr sz="1150" b="0" i="0" dirty="0" err="1">
                <a:solidFill>
                  <a:srgbClr val="AABBCC"/>
                </a:solidFill>
                <a:latin typeface="Calibri"/>
              </a:rPr>
              <a:t>tinggi</a:t>
            </a:r>
            <a:r>
              <a:rPr sz="1150" b="0" i="0" dirty="0">
                <a:solidFill>
                  <a:srgbClr val="AABBCC"/>
                </a:solidFill>
                <a:latin typeface="Calibri"/>
              </a:rPr>
              <a:t> yang </a:t>
            </a:r>
            <a:r>
              <a:rPr sz="1150" b="0" i="0" dirty="0" err="1">
                <a:solidFill>
                  <a:srgbClr val="AABBCC"/>
                </a:solidFill>
                <a:latin typeface="Calibri"/>
              </a:rPr>
              <a:t>belum</a:t>
            </a:r>
            <a:r>
              <a:rPr sz="1150" b="0" i="0" dirty="0">
                <a:solidFill>
                  <a:srgbClr val="AABBCC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AABBCC"/>
                </a:solidFill>
                <a:latin typeface="Calibri"/>
              </a:rPr>
              <a:t>disentuh</a:t>
            </a:r>
            <a:r>
              <a:rPr sz="1150" b="0" i="0" dirty="0">
                <a:solidFill>
                  <a:srgbClr val="AABBCC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AABBCC"/>
                </a:solidFill>
                <a:latin typeface="Calibri"/>
              </a:rPr>
              <a:t>kompetitor</a:t>
            </a:r>
            <a:r>
              <a:rPr sz="1150" b="0" i="0" dirty="0">
                <a:solidFill>
                  <a:srgbClr val="AABBCC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74320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082010"/>
          </a:solidFill>
          <a:ln w="9525">
            <a:solidFill>
              <a:srgbClr val="145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5968" y="29443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337547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Panduan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Dokumen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Otomatis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15968" y="3805244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BCC"/>
                </a:solidFill>
                <a:latin typeface="Calibri"/>
              </a:rPr>
              <a:t>Cukup masukkan produk dan negara tujuan — sistem langsung menghasilkan checklist dokumen lengkap beserta estimasi biaya dan waktu.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74320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082010"/>
          </a:solidFill>
          <a:ln w="9525">
            <a:solidFill>
              <a:srgbClr val="145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19288" y="29443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335317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FFFFFF"/>
                </a:solidFill>
                <a:latin typeface="Calibri"/>
              </a:rPr>
              <a:t>Konsultan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AI 24/7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3782942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BCC"/>
                </a:solidFill>
                <a:latin typeface="Calibri"/>
              </a:rPr>
              <a:t>Tanya apa saja tentang ekspor dalam Bahasa Indonesia atau dengan suara. AI menjawab seperti konsultan berpengalaman, kapan pun dibutuhkan.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E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164592"/>
            <a:ext cx="2130552" cy="320040"/>
          </a:xfrm>
          <a:prstGeom prst="rect">
            <a:avLst/>
          </a:prstGeom>
          <a:solidFill>
            <a:srgbClr val="10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0" y="164592"/>
            <a:ext cx="2130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  <a:latin typeface="Calibri"/>
              </a:rPr>
              <a:t>⚙️  CARA KERJA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Dari Input ke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A5B4FC"/>
                </a:solidFill>
                <a:latin typeface="Calibri"/>
              </a:rPr>
              <a:t>dalam Hitungan Detik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  <a:latin typeface="Calibri"/>
              </a:rPr>
              <a:t>Proses yang biasanya memakan berminggu-minggu riset manual kini selesai otomatis.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" y="2468880"/>
            <a:ext cx="2103120" cy="2377440"/>
          </a:xfrm>
          <a:prstGeom prst="roundRect">
            <a:avLst>
              <a:gd name="adj" fmla="val 4000"/>
            </a:avLst>
          </a:prstGeom>
          <a:solidFill>
            <a:srgbClr val="121528"/>
          </a:solidFill>
          <a:ln w="9525">
            <a:solidFill>
              <a:srgbClr val="28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11580" y="2633472"/>
            <a:ext cx="502920" cy="502920"/>
          </a:xfrm>
          <a:prstGeom prst="rect">
            <a:avLst/>
          </a:prstGeom>
          <a:solidFill>
            <a:srgbClr val="28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1580" y="26151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5B4FC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158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" y="3840480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Input Produk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" y="4251960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AABBCC"/>
                </a:solidFill>
                <a:latin typeface="Calibri"/>
              </a:rPr>
              <a:t>Ketik</a:t>
            </a:r>
            <a:r>
              <a:rPr sz="1000" b="0" i="0" dirty="0">
                <a:solidFill>
                  <a:srgbClr val="AABBC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ABBCC"/>
                </a:solidFill>
                <a:latin typeface="Calibri"/>
              </a:rPr>
              <a:t>atau</a:t>
            </a:r>
            <a:r>
              <a:rPr sz="1000" b="0" i="0" dirty="0">
                <a:solidFill>
                  <a:srgbClr val="AABBC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ABBCC"/>
                </a:solidFill>
                <a:latin typeface="Calibri"/>
              </a:rPr>
              <a:t>ucapkan</a:t>
            </a:r>
            <a:r>
              <a:rPr sz="1000" b="0" i="0" dirty="0">
                <a:solidFill>
                  <a:srgbClr val="AABBCC"/>
                </a:solidFill>
                <a:latin typeface="Calibri"/>
              </a:rPr>
              <a:t> nama </a:t>
            </a:r>
            <a:r>
              <a:rPr sz="1000" b="0" i="0" dirty="0" err="1">
                <a:solidFill>
                  <a:srgbClr val="AABBCC"/>
                </a:solidFill>
                <a:latin typeface="Calibri"/>
              </a:rPr>
              <a:t>produk</a:t>
            </a:r>
            <a:r>
              <a:rPr sz="1000" b="0" i="0" dirty="0">
                <a:solidFill>
                  <a:srgbClr val="AABBC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ABBCC"/>
                </a:solidFill>
                <a:latin typeface="Calibri"/>
              </a:rPr>
              <a:t>dalam</a:t>
            </a:r>
            <a:r>
              <a:rPr sz="1000" b="0" i="0" dirty="0">
                <a:solidFill>
                  <a:srgbClr val="AABBCC"/>
                </a:solidFill>
                <a:latin typeface="Calibri"/>
              </a:rPr>
              <a:t> Bahasa Indonesia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5748" y="33832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38628" y="2468880"/>
            <a:ext cx="2103120" cy="2377440"/>
          </a:xfrm>
          <a:prstGeom prst="roundRect">
            <a:avLst>
              <a:gd name="adj" fmla="val 4000"/>
            </a:avLst>
          </a:prstGeom>
          <a:solidFill>
            <a:srgbClr val="121528"/>
          </a:solidFill>
          <a:ln w="9525">
            <a:solidFill>
              <a:srgbClr val="28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15868" y="2633472"/>
            <a:ext cx="502920" cy="502920"/>
          </a:xfrm>
          <a:prstGeom prst="rect">
            <a:avLst/>
          </a:prstGeom>
          <a:solidFill>
            <a:srgbClr val="28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15868" y="26151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5B4F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5868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8356" y="3840480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Analisis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8356" y="4251960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  <a:latin typeface="Calibri"/>
              </a:rPr>
              <a:t>Gemini AI mengklasifikasi HS Code &amp; menganalisis data Comtrade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0036" y="33832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2916" y="2468880"/>
            <a:ext cx="2103120" cy="2377440"/>
          </a:xfrm>
          <a:prstGeom prst="roundRect">
            <a:avLst>
              <a:gd name="adj" fmla="val 4000"/>
            </a:avLst>
          </a:prstGeom>
          <a:solidFill>
            <a:srgbClr val="121528"/>
          </a:solidFill>
          <a:ln w="9525">
            <a:solidFill>
              <a:srgbClr val="28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20156" y="2633472"/>
            <a:ext cx="502920" cy="502920"/>
          </a:xfrm>
          <a:prstGeom prst="rect">
            <a:avLst/>
          </a:prstGeom>
          <a:solidFill>
            <a:srgbClr val="28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20156" y="26151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5B4FC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20156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2644" y="3840480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Insight Pasar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2644" y="4251960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  <a:latin typeface="Calibri"/>
              </a:rPr>
              <a:t>Rekomendasi negara, harga benchmark, peluang ekspor terbaik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4324" y="33832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47204" y="2468880"/>
            <a:ext cx="2103120" cy="2377440"/>
          </a:xfrm>
          <a:prstGeom prst="roundRect">
            <a:avLst>
              <a:gd name="adj" fmla="val 4000"/>
            </a:avLst>
          </a:prstGeom>
          <a:solidFill>
            <a:srgbClr val="121528"/>
          </a:solidFill>
          <a:ln w="9525">
            <a:solidFill>
              <a:srgbClr val="28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24444" y="2633472"/>
            <a:ext cx="502920" cy="502920"/>
          </a:xfrm>
          <a:prstGeom prst="rect">
            <a:avLst/>
          </a:prstGeom>
          <a:solidFill>
            <a:srgbClr val="28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24444" y="26151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5B4FC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4444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6932" y="3840480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Checklist Dokumen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6932" y="4251960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  <a:latin typeface="Calibri"/>
              </a:rPr>
              <a:t>Daftar dokumen wajib &amp; estimasi biaya spesifik negara tujuan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8612" y="33832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51492" y="2468880"/>
            <a:ext cx="2103120" cy="2377440"/>
          </a:xfrm>
          <a:prstGeom prst="roundRect">
            <a:avLst>
              <a:gd name="adj" fmla="val 4000"/>
            </a:avLst>
          </a:prstGeom>
          <a:solidFill>
            <a:srgbClr val="121528"/>
          </a:solidFill>
          <a:ln w="9525">
            <a:solidFill>
              <a:srgbClr val="28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428732" y="2633472"/>
            <a:ext cx="502920" cy="502920"/>
          </a:xfrm>
          <a:prstGeom prst="rect">
            <a:avLst/>
          </a:prstGeom>
          <a:solidFill>
            <a:srgbClr val="28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428732" y="26151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5B4FC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8732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✉️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61220" y="3840480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Siap Ekspor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61220" y="4251960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  <a:latin typeface="Calibri"/>
              </a:rPr>
              <a:t>Draft email negosiasi &amp; audit kemasan — tinggal kirim dan deal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E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E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956048" y="164592"/>
            <a:ext cx="2286000" cy="320040"/>
          </a:xfrm>
          <a:prstGeom prst="rect">
            <a:avLst/>
          </a:prstGeom>
          <a:solidFill>
            <a:srgbClr val="10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56048" y="164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  <a:latin typeface="Calibri"/>
              </a:rPr>
              <a:t>🚀  FITUR UNGGULAN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6 Modul yang Mengubah Cara UMKM Ekspor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08760"/>
            <a:ext cx="3703320" cy="1463040"/>
          </a:xfrm>
          <a:prstGeom prst="roundRect">
            <a:avLst>
              <a:gd name="adj" fmla="val 4000"/>
            </a:avLst>
          </a:prstGeom>
          <a:solidFill>
            <a:srgbClr val="10132A"/>
          </a:solidFill>
          <a:ln w="9525">
            <a:solidFill>
              <a:srgbClr val="282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733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🗺️  Market Gap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3055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Menemukan celah ekspor di 50+ negara tujuan. Skor peluang otomatis berdasarkan demand vs. supply.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508760"/>
            <a:ext cx="3703320" cy="1463040"/>
          </a:xfrm>
          <a:prstGeom prst="roundRect">
            <a:avLst>
              <a:gd name="adj" fmla="val 4000"/>
            </a:avLst>
          </a:prstGeom>
          <a:solidFill>
            <a:srgbClr val="10132A"/>
          </a:solidFill>
          <a:ln w="9525">
            <a:solidFill>
              <a:srgbClr val="282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16733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🏷️  HS Code Optimizer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13055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Klasifikasi HS Code otomatis + tarif preferensial FTA — hemat pajak impor hingga 0% untuk negara mitra.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0456" y="1508760"/>
            <a:ext cx="3703320" cy="1463040"/>
          </a:xfrm>
          <a:prstGeom prst="roundRect">
            <a:avLst>
              <a:gd name="adj" fmla="val 4000"/>
            </a:avLst>
          </a:prstGeom>
          <a:solidFill>
            <a:srgbClr val="10132A"/>
          </a:solidFill>
          <a:ln w="9525">
            <a:solidFill>
              <a:srgbClr val="282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03336" y="16733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📦  Packaging Auditor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213055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Upload foto kemasan — AI mengecek kepatuhan label, allergen, bahasa, dan standar regulasi secara visual.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36392"/>
            <a:ext cx="3703320" cy="1463040"/>
          </a:xfrm>
          <a:prstGeom prst="roundRect">
            <a:avLst>
              <a:gd name="adj" fmla="val 4000"/>
            </a:avLst>
          </a:prstGeom>
          <a:solidFill>
            <a:srgbClr val="10132A"/>
          </a:solidFill>
          <a:ln w="9525">
            <a:solidFill>
              <a:srgbClr val="282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300984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💰  Nego Coach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58184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Pantau harga benchmark komoditas internasional real-time + draft email negosiasi profesional Bahasa Inggris.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136392"/>
            <a:ext cx="3703320" cy="1463040"/>
          </a:xfrm>
          <a:prstGeom prst="roundRect">
            <a:avLst>
              <a:gd name="adj" fmla="val 4000"/>
            </a:avLst>
          </a:prstGeom>
          <a:solidFill>
            <a:srgbClr val="10132A"/>
          </a:solidFill>
          <a:ln w="9525">
            <a:solidFill>
              <a:srgbClr val="282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98848" y="3300984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🛡️  Export Readiness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758184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Dry-run simulasi perjalanan ekspor: checkpoint bea cukai, estimasi biaya, dan analisis risiko lengkap.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0456" y="3136392"/>
            <a:ext cx="3703320" cy="1463040"/>
          </a:xfrm>
          <a:prstGeom prst="roundRect">
            <a:avLst>
              <a:gd name="adj" fmla="val 4000"/>
            </a:avLst>
          </a:prstGeom>
          <a:solidFill>
            <a:srgbClr val="10132A"/>
          </a:solidFill>
          <a:ln w="9525">
            <a:solidFill>
              <a:srgbClr val="282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03336" y="3300984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🆘  Post-Export Solver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3758184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Barang ditahan? Buyer dispute? AI menganalisis masalah, resolusi langkah demi langkah, dan draft surat klaim.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E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E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164592"/>
            <a:ext cx="2130552" cy="320040"/>
          </a:xfrm>
          <a:prstGeom prst="rect">
            <a:avLst/>
          </a:prstGeom>
          <a:solidFill>
            <a:srgbClr val="10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0" y="164592"/>
            <a:ext cx="2130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  <a:latin typeface="Calibri"/>
              </a:rPr>
              <a:t>🧠 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AI yang Transparan &amp; Terpercaya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8988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  <a:latin typeface="Calibri"/>
              </a:rPr>
              <a:t>Dibangun dengan prinsip anti-halusinasi — AI kami tahu kapan harus berkata 'tidak tahu' daripada mengarang fakta.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993392"/>
            <a:ext cx="5669280" cy="1188720"/>
          </a:xfrm>
          <a:prstGeom prst="roundRect">
            <a:avLst>
              <a:gd name="adj" fmla="val 4000"/>
            </a:avLst>
          </a:prstGeom>
          <a:solidFill>
            <a:srgbClr val="121528"/>
          </a:solidFill>
          <a:ln w="9525">
            <a:solidFill>
              <a:srgbClr val="252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1579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157984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Google Gemini AI (Primary)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2542032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Model utama — cerdas, akurat, dengan Chain-of-Thought reasoning yang dapat dilihat pengguna secara transparan.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993392"/>
            <a:ext cx="5669280" cy="1188720"/>
          </a:xfrm>
          <a:prstGeom prst="roundRect">
            <a:avLst>
              <a:gd name="adj" fmla="val 4000"/>
            </a:avLst>
          </a:prstGeom>
          <a:solidFill>
            <a:srgbClr val="121528"/>
          </a:solidFill>
          <a:ln w="9525">
            <a:solidFill>
              <a:srgbClr val="252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21579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157984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3-Tier Fallback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542032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Gemini → Backup LLM → Rule-based engine. Sistem selalu responsif bahkan saat koneksi AI terganggu.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310128"/>
            <a:ext cx="5669280" cy="1188720"/>
          </a:xfrm>
          <a:prstGeom prst="roundRect">
            <a:avLst>
              <a:gd name="adj" fmla="val 4000"/>
            </a:avLst>
          </a:prstGeom>
          <a:solidFill>
            <a:srgbClr val="121528"/>
          </a:solidFill>
          <a:ln w="9525">
            <a:solidFill>
              <a:srgbClr val="252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7472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RAG (Retrieval-Augmented Generation)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858768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AI menjawab berdasarkan knowledge base regulasi ekspor nyata, bukan sekadar training data generik.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3310128"/>
            <a:ext cx="5669280" cy="1188720"/>
          </a:xfrm>
          <a:prstGeom prst="roundRect">
            <a:avLst>
              <a:gd name="adj" fmla="val 4000"/>
            </a:avLst>
          </a:prstGeom>
          <a:solidFill>
            <a:srgbClr val="121528"/>
          </a:solidFill>
          <a:ln w="9525">
            <a:solidFill>
              <a:srgbClr val="252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8" y="3474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47472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Voice-First (ASR + TTS)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858768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Whisper ASR speech-to-text + TTS — ideal untuk pengguna yang belum familiar dengan keyboard.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626864"/>
            <a:ext cx="5669280" cy="1188720"/>
          </a:xfrm>
          <a:prstGeom prst="roundRect">
            <a:avLst>
              <a:gd name="adj" fmla="val 4000"/>
            </a:avLst>
          </a:prstGeom>
          <a:solidFill>
            <a:srgbClr val="121528"/>
          </a:solidFill>
          <a:ln w="9525">
            <a:solidFill>
              <a:srgbClr val="252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7914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791456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Transparency Panel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5175504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Setiap respons ditampilkan dengan confidence score, proses berpikir, dan sumber data. Tidak ada black box.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4626864"/>
            <a:ext cx="5669280" cy="1188720"/>
          </a:xfrm>
          <a:prstGeom prst="roundRect">
            <a:avLst>
              <a:gd name="adj" fmla="val 4000"/>
            </a:avLst>
          </a:prstGeom>
          <a:solidFill>
            <a:srgbClr val="121528"/>
          </a:solidFill>
          <a:ln w="9525">
            <a:solidFill>
              <a:srgbClr val="252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8" y="47914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791456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UN Comtrade Real-time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5175504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Terkoneksi database perdagangan UN Comtrade untuk analisis pasar berbasis data ekspor aktual.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E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164592"/>
            <a:ext cx="2130552" cy="320040"/>
          </a:xfrm>
          <a:prstGeom prst="rect">
            <a:avLst/>
          </a:prstGeom>
          <a:solidFill>
            <a:srgbClr val="0A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0" y="164592"/>
            <a:ext cx="2130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🌟  DAMPAK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Apa yang Berubah Setelah Pakai NusantaraExport.AI?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  <a:latin typeface="Calibri"/>
              </a:rPr>
              <a:t>Dari proses berbulan-bulan menjadi hitungan menit — dari biaya jutaan menjadi terjangkau semua kalangan.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❌  SEBELUM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5486400" cy="1024128"/>
          </a:xfrm>
          <a:prstGeom prst="roundRect">
            <a:avLst>
              <a:gd name="adj" fmla="val 4000"/>
            </a:avLst>
          </a:prstGeom>
          <a:solidFill>
            <a:srgbClr val="220A0A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⏱️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8600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2–4 minggu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7919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Riset pasar manual + konsultasi berbayar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00984"/>
            <a:ext cx="5486400" cy="1024128"/>
          </a:xfrm>
          <a:prstGeom prst="roundRect">
            <a:avLst>
              <a:gd name="adj" fmla="val 4000"/>
            </a:avLst>
          </a:prstGeom>
          <a:solidFill>
            <a:srgbClr val="220A0A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5295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38144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Rp 5–30 juta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3133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Biaya konsultan ekspor per kasus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53128"/>
            <a:ext cx="5486400" cy="1024128"/>
          </a:xfrm>
          <a:prstGeom prst="roundRect">
            <a:avLst>
              <a:gd name="adj" fmla="val 4000"/>
            </a:avLst>
          </a:prstGeom>
          <a:solidFill>
            <a:srgbClr val="220A0A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6817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59028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Sering salah dokumen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834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HS Code keliru, kemasan ditolak, barang ditahan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901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✅  SESUDAH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148840"/>
            <a:ext cx="5486400" cy="1024128"/>
          </a:xfrm>
          <a:prstGeom prst="roundRect">
            <a:avLst>
              <a:gd name="adj" fmla="val 4000"/>
            </a:avLst>
          </a:prstGeom>
          <a:solidFill>
            <a:srgbClr val="082010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2377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28600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&lt; 5 menit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67919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Analisis pasar dan checklist dokumen otomatis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300984"/>
            <a:ext cx="5486400" cy="1024128"/>
          </a:xfrm>
          <a:prstGeom prst="roundRect">
            <a:avLst>
              <a:gd name="adj" fmla="val 4000"/>
            </a:avLst>
          </a:prstGeom>
          <a:solidFill>
            <a:srgbClr val="082010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35295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438144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Gratis / Terjangkau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83133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Akses penuh fitur AI tanpa konsultan mahal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453128"/>
            <a:ext cx="5486400" cy="1024128"/>
          </a:xfrm>
          <a:prstGeom prst="roundRect">
            <a:avLst>
              <a:gd name="adj" fmla="val 4000"/>
            </a:avLst>
          </a:prstGeom>
          <a:solidFill>
            <a:srgbClr val="082010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46817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59028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Akurat &amp; real-time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9834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HS Code tepat, kemasan compliant, negosiasi percaya diri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956048" y="685800"/>
            <a:ext cx="2286000" cy="384048"/>
          </a:xfrm>
          <a:prstGeom prst="rect">
            <a:avLst/>
          </a:prstGeom>
          <a:solidFill>
            <a:srgbClr val="0D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56048" y="6858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Calibri"/>
              </a:rPr>
              <a:t>🌿  NusantaraExport.AI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Saatnya UMKM Indonesia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299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4ADE80"/>
                </a:solidFill>
                <a:latin typeface="Calibri"/>
              </a:rPr>
              <a:t>Mendunia Bersama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07792"/>
            <a:ext cx="9445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CC"/>
                </a:solidFill>
                <a:latin typeface="Calibri"/>
              </a:rPr>
              <a:t>Bergabunglah dan jadilah bagian dari gelombang UMKM Indonesia yang menembus pasar global
dengan percaya diri — didukung teknologi AI terdepan.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3822191"/>
            <a:ext cx="365760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70248" y="3934703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libri"/>
              </a:rPr>
              <a:t>🚀  Coba Sekarang — Gratis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1018</Words>
  <Application>Microsoft Macintosh PowerPoint</Application>
  <PresentationFormat>Custom</PresentationFormat>
  <Paragraphs>151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Henry Salim</cp:lastModifiedBy>
  <cp:revision>4</cp:revision>
  <dcterms:created xsi:type="dcterms:W3CDTF">2013-01-27T09:14:16Z</dcterms:created>
  <dcterms:modified xsi:type="dcterms:W3CDTF">2026-09-02T03:29:24Z</dcterms:modified>
  <cp:category/>
</cp:coreProperties>
</file>